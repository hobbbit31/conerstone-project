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Urbanist Medium"/>
      <p:regular r:id="rId25"/>
      <p:bold r:id="rId26"/>
      <p:italic r:id="rId27"/>
      <p:boldItalic r:id="rId28"/>
    </p:embeddedFont>
    <p:embeddedFont>
      <p:font typeface="Urbanist"/>
      <p:regular r:id="rId29"/>
      <p:bold r:id="rId30"/>
      <p:italic r:id="rId31"/>
      <p:boldItalic r:id="rId32"/>
    </p:embeddedFont>
    <p:embeddedFont>
      <p:font typeface="JetBrains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C7870B-5500-42E3-927F-B9AA9028AB1F}">
  <a:tblStyle styleId="{9CC7870B-5500-42E3-927F-B9AA9028AB1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Medium-bold.fntdata"/><Relationship Id="rId25" Type="http://schemas.openxmlformats.org/officeDocument/2006/relationships/font" Target="fonts/UrbanistMedium-regular.fntdata"/><Relationship Id="rId28" Type="http://schemas.openxmlformats.org/officeDocument/2006/relationships/font" Target="fonts/UrbanistMedium-boldItalic.fntdata"/><Relationship Id="rId27" Type="http://schemas.openxmlformats.org/officeDocument/2006/relationships/font" Target="fonts/Urbanist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italic.fntdata"/><Relationship Id="rId30" Type="http://schemas.openxmlformats.org/officeDocument/2006/relationships/font" Target="fonts/Urbanist-bold.fntdata"/><Relationship Id="rId11" Type="http://schemas.openxmlformats.org/officeDocument/2006/relationships/slide" Target="slides/slide5.xml"/><Relationship Id="rId33" Type="http://schemas.openxmlformats.org/officeDocument/2006/relationships/font" Target="fonts/JetBrainsMono-regular.fntdata"/><Relationship Id="rId10" Type="http://schemas.openxmlformats.org/officeDocument/2006/relationships/slide" Target="slides/slide4.xml"/><Relationship Id="rId32" Type="http://schemas.openxmlformats.org/officeDocument/2006/relationships/font" Target="fonts/Urbanist-boldItalic.fntdata"/><Relationship Id="rId13" Type="http://schemas.openxmlformats.org/officeDocument/2006/relationships/slide" Target="slides/slide7.xml"/><Relationship Id="rId35" Type="http://schemas.openxmlformats.org/officeDocument/2006/relationships/font" Target="fonts/JetBrainsMono-italic.fntdata"/><Relationship Id="rId12" Type="http://schemas.openxmlformats.org/officeDocument/2006/relationships/slide" Target="slides/slide6.xml"/><Relationship Id="rId34" Type="http://schemas.openxmlformats.org/officeDocument/2006/relationships/font" Target="fonts/JetBrainsMon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JetBrainsMon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38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5" Type="http://schemas.openxmlformats.org/officeDocument/2006/relationships/image" Target="../media/image15.png"/><Relationship Id="rId6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30.png"/><Relationship Id="rId5" Type="http://schemas.openxmlformats.org/officeDocument/2006/relationships/image" Target="../media/image37.png"/><Relationship Id="rId6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1.png"/><Relationship Id="rId6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1941165"/>
            <a:ext cx="10572750" cy="2975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3414" y="9525"/>
            <a:ext cx="486906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200150" y="4068960"/>
            <a:ext cx="979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IIT Delhi | Cornerstone Systems Project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2025MCS2105 &amp; 2025MCS2094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55357" y="2331690"/>
            <a:ext cx="10281285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Parallelized </a:t>
            </a:r>
            <a:r>
              <a:rPr b="0" i="0" lang="en-US" sz="4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Discrete Event Simulator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200150" y="3192660"/>
            <a:ext cx="9791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Efficient Logic Verification for VHDL Circuits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462212"/>
            <a:ext cx="5324475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27860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Project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Motivation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581775" y="3405187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Goal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81775" y="3890962"/>
            <a:ext cx="47339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Build a correct, deterministic simulator that leverages OpenMP for batch process execution while maintaining strict causality via delta cycles.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2181225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Scalability Crisis: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Modern circuits contain millions of gates. O(N) naive simulation is no longer feasible.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62025" y="3000375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Redundancy: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Most gates don't change state in a given cycle; re-evaluating them wastes CPU cycles.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3819525"/>
            <a:ext cx="49434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Hardware Evolution: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Multicore processors are standard, yet many academic simulators remain single-threaded.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62025" y="4953000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Our Solution: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parallelized, event-driven engine written in C++17 with Flex/Bison parsing.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23837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05752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7667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010150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05050"/>
            <a:ext cx="351785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7000" y="2305050"/>
            <a:ext cx="351785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2975" y="2305050"/>
            <a:ext cx="3517999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26289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2275" y="26289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8250" y="26289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System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Architecture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876300" y="3248025"/>
            <a:ext cx="30736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Frontend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76300" y="3733800"/>
            <a:ext cx="29273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VHDL Lexer (Flex) and Parser (Bison) translate source code into an Abstract Syntax Tree (AST).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632275" y="3248025"/>
            <a:ext cx="30736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Intermediate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632275" y="3733800"/>
            <a:ext cx="29273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Code Generator flattens AST expressions into a standardized Netlist (.net) and Stimulus (.stim) format.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388250" y="3248025"/>
            <a:ext cx="30738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Core Engine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388250" y="3733800"/>
            <a:ext cx="2927449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Event-driven simulator with priority queue management, double-buffering, and VCD wave generation.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95487"/>
            <a:ext cx="53244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005012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Discrete Event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Simulation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286500" y="2486025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Key Principles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667500" y="2857500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Event-Driven: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Evaluations only occur when a signal's input changes.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67500" y="3676650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Time Management: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Simulation time advances to the next scheduled event, skipping inactive intervals.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667500" y="4495800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Efficiency: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Reduces complexity from O(Gates per step) to O(Active events per step).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91465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73380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552950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595687"/>
            <a:ext cx="49434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3786187"/>
            <a:ext cx="45243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81025" y="581025"/>
            <a:ext cx="519064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Delta Cycles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&amp; Causality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81025" y="1228725"/>
            <a:ext cx="4943475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81025" y="2662237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 handle zero-delay logic and maintain causality, we introduce sub-steps called Delta Cycles.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81025" y="4424362"/>
            <a:ext cx="49434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If Gate A drives Gate B, B must see A's output </a:t>
            </a:r>
            <a:r>
              <a:rPr b="0" i="1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after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executes. Delta cycles ensure that all concurrent changes at time T are ordered correctly before advancing real time.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14575"/>
            <a:ext cx="532447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14575"/>
            <a:ext cx="532447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5019675"/>
            <a:ext cx="106108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Double-Buffered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Signal Design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876300" y="2609850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Race Condition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76300" y="3095625"/>
            <a:ext cx="47339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 parallel execution, if Process B reads Signal X while Process A is writing to it, the result is non-deterministic.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581775" y="2609850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Snapshot Solution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581775" y="3095625"/>
            <a:ext cx="47339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Signals use a two-phase commit strategy. All processes read from a "Current" value and schedule updates to a "Next" value.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66962"/>
            <a:ext cx="5324475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Signal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Class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581025" y="2014537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Members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81025" y="3900487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Key Methods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62025" y="2386012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 current_value: The committed state.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62025" y="2890837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 next_value: Pending update value.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62025" y="3395662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vector deps: Processes to trigger on change.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62025" y="4271962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getValue(): Thread-safe read of current.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62025" y="4776787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scheduleUpdate(v): Queue a pending change.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62025" y="5281612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commit(): Atomically swap values.</a:t>
            </a:r>
            <a:endParaRPr/>
          </a:p>
        </p:txBody>
      </p:sp>
      <p:pic>
        <p:nvPicPr>
          <p:cNvPr descr="image.png" id="186" name="Google Shape;18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44316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94798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45281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32911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83393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338762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" name="Google Shape;197;p20"/>
          <p:cNvGraphicFramePr/>
          <p:nvPr/>
        </p:nvGraphicFramePr>
        <p:xfrm>
          <a:off x="581025" y="26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{9CC7870B-5500-42E3-927F-B9AA9028AB1F}</a:tableStyleId>
              </a:tblPr>
              <a:tblGrid>
                <a:gridCol w="1719400"/>
                <a:gridCol w="4095900"/>
                <a:gridCol w="5214650"/>
              </a:tblGrid>
              <a:tr h="45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Implementation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Functionality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Logic Gates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AND, OR, XOR, NAND, NOR, XNOR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 2-input boolean logic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Unary Ops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NOT, BUF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Signal inversion and buffering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Control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MUX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Selector-based signal routing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Sequential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DFF, SR Latch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Edge-triggered and level-sensitive memory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Timing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Clock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Self-rescheduling periodic signal generator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198" name="Google Shape;198;p20"/>
          <p:cNvSpPr/>
          <p:nvPr/>
        </p:nvSpPr>
        <p:spPr>
          <a:xfrm>
            <a:off x="581025" y="3090862"/>
            <a:ext cx="1719411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2300436" y="3090862"/>
            <a:ext cx="4095898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6396335" y="3090862"/>
            <a:ext cx="5214639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81025" y="3552825"/>
            <a:ext cx="171941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2300436" y="3552825"/>
            <a:ext cx="409589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6396335" y="3552825"/>
            <a:ext cx="521463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81025" y="4000500"/>
            <a:ext cx="171941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2300436" y="4000500"/>
            <a:ext cx="409589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6396335" y="4000500"/>
            <a:ext cx="521463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81025" y="4448175"/>
            <a:ext cx="171941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2300436" y="4448175"/>
            <a:ext cx="409589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6396335" y="4448175"/>
            <a:ext cx="521463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581025" y="4895850"/>
            <a:ext cx="171941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2300436" y="4895850"/>
            <a:ext cx="409589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6396335" y="4895850"/>
            <a:ext cx="521463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81025" y="5343525"/>
            <a:ext cx="171941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2300436" y="5343525"/>
            <a:ext cx="409589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6396335" y="5343525"/>
            <a:ext cx="521463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Comprehensive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Gate Library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81597"/>
            <a:ext cx="5324475" cy="22377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28900"/>
            <a:ext cx="5324475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657225" y="3047702"/>
            <a:ext cx="543067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EFF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example.net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Netlist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Parsing &amp; Wiring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6581775" y="2924175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Dynamic Wiring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581775" y="3409950"/>
            <a:ext cx="4733925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parser instantiates Signal objects and links them to Process sensitivity lists. This creates a directed graph where edges represent signal propagation paths.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33612"/>
            <a:ext cx="53244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243137"/>
            <a:ext cx="53054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Waveform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Visualization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6286500" y="2486025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VCD Writer Integration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6667500" y="2857500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Standard Compliance: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Outputs IEEE 1364 Value Change Dump files.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667500" y="3676650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Atomic Logging: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Changes are recorded only when commit() returns true.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667500" y="4495800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Analysis: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Waveforms can be inspected in GTKWave to verify timing and logic.</a:t>
            </a:r>
            <a:endParaRPr/>
          </a:p>
        </p:txBody>
      </p:sp>
      <p:pic>
        <p:nvPicPr>
          <p:cNvPr descr="image.png" id="243" name="Google Shape;24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91465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73380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552950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043237"/>
            <a:ext cx="532447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VHDL Lexer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(Flex)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962025" y="2590800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Case Insensitivity: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VHDL ignores case; Lexer maps all keywords to uniform tokens.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962025" y="3409950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Line Tracking: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yylineno ensures precise error reporting.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962025" y="4229100"/>
            <a:ext cx="49434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Tokenization: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Handles complex entities like rising_edge, signal assignments (&lt;=), and time literals (ns).</a:t>
            </a:r>
            <a:endParaRPr/>
          </a:p>
        </p:txBody>
      </p:sp>
      <p:pic>
        <p:nvPicPr>
          <p:cNvPr descr="image.png" id="257" name="Google Shape;25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64795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46710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286250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86062"/>
            <a:ext cx="532447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86062"/>
            <a:ext cx="5324475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VHDL Parser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(Bison)</a:t>
            </a:r>
            <a:endParaRPr/>
          </a:p>
        </p:txBody>
      </p:sp>
      <p:sp>
        <p:nvSpPr>
          <p:cNvPr id="268" name="Google Shape;268;p24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876300" y="3081337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Grammar Hierarchy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876300" y="3567112"/>
            <a:ext cx="47339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Implements a recursive descent parser for VHDL subsets: Entity declarations, Architectures, and Signal Assignments.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6581775" y="3081337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Pattern Matching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6581775" y="3567112"/>
            <a:ext cx="47339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Recognizes high-level constructs like if rising_edge(CLK) and maps them to specialized DFF processes.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95487"/>
            <a:ext cx="53244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2195512"/>
            <a:ext cx="4924425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Abstract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Syntax Tree</a:t>
            </a:r>
            <a:endParaRPr/>
          </a:p>
        </p:txBody>
      </p:sp>
      <p:sp>
        <p:nvSpPr>
          <p:cNvPr id="281" name="Google Shape;281;p25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6286500" y="2705100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AST Node Types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6667500" y="3076575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VExpr: Expression trees (AND/OR/NOT).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6667500" y="3581400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VGateProcess: Logic blocks.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6667500" y="4086225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VHDLDesign: Top-level container.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6667500" y="4591050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Ensures semantic correctness before code generation.</a:t>
            </a:r>
            <a:endParaRPr/>
          </a:p>
        </p:txBody>
      </p:sp>
      <p:pic>
        <p:nvPicPr>
          <p:cNvPr descr="image.png" id="287" name="Google Shape;28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13372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63855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14337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648200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6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Code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Generator</a:t>
            </a:r>
            <a:endParaRPr/>
          </a:p>
        </p:txBody>
      </p:sp>
      <p:sp>
        <p:nvSpPr>
          <p:cNvPr id="297" name="Google Shape;297;p26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 txBox="1"/>
          <p:nvPr/>
        </p:nvSpPr>
        <p:spPr>
          <a:xfrm>
            <a:off x="809625" y="4357687"/>
            <a:ext cx="106108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Example Transformation: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962025" y="2347912"/>
            <a:ext cx="10648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Expression Flattening: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Converts OUT &lt;= A and (B or C) into a series of primitive gates using temporary signals.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962025" y="2852737"/>
            <a:ext cx="10648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Stimulus Extraction: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Processes wait for statements into time-stamped events for the .stim file.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962025" y="3357562"/>
            <a:ext cx="10648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Result: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Decouples the VHDL language from the simulator execution engine.</a:t>
            </a:r>
            <a:endParaRPr/>
          </a:p>
        </p:txBody>
      </p:sp>
      <p:pic>
        <p:nvPicPr>
          <p:cNvPr descr="image.png" id="302" name="Google Shape;30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0506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0988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14712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95487"/>
            <a:ext cx="53244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19350"/>
            <a:ext cx="5324475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2005012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7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Test Case: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Full Adder</a:t>
            </a:r>
            <a:endParaRPr/>
          </a:p>
        </p:txBody>
      </p:sp>
      <p:sp>
        <p:nvSpPr>
          <p:cNvPr id="314" name="Google Shape;314;p27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 txBox="1"/>
          <p:nvPr/>
        </p:nvSpPr>
        <p:spPr>
          <a:xfrm>
            <a:off x="6581775" y="2714625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Simulation Metrics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6581775" y="3200400"/>
            <a:ext cx="47339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Gates: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5 (2 XOR, 2 AND, 1 OR)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6581775" y="3724275"/>
            <a:ext cx="47339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Max Delta Depth: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3 Cycles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6581775" y="4248150"/>
            <a:ext cx="47339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Tests concurrent gate firing and multi-level signal propagation.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95487"/>
            <a:ext cx="53244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005012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8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Sequential Logic: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 Flip-Flop</a:t>
            </a:r>
            <a:endParaRPr/>
          </a:p>
        </p:txBody>
      </p:sp>
      <p:sp>
        <p:nvSpPr>
          <p:cNvPr id="327" name="Google Shape;327;p28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 txBox="1"/>
          <p:nvPr/>
        </p:nvSpPr>
        <p:spPr>
          <a:xfrm>
            <a:off x="581025" y="2957512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Verification Points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962025" y="3328987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State change strictly on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rising_edge(CLK)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962025" y="3833812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Signal hold behavior when CLK is stable.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962025" y="4338637"/>
            <a:ext cx="4943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Complementary output (Q and Q_NOT) stability.</a:t>
            </a:r>
            <a:endParaRPr/>
          </a:p>
        </p:txBody>
      </p:sp>
      <p:pic>
        <p:nvPicPr>
          <p:cNvPr descr="image.png" id="332" name="Google Shape;332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38613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9096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395787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3155751"/>
            <a:ext cx="4524375" cy="451246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9"/>
          <p:cNvSpPr txBox="1"/>
          <p:nvPr/>
        </p:nvSpPr>
        <p:spPr>
          <a:xfrm>
            <a:off x="581025" y="581025"/>
            <a:ext cx="519064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Parallelization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Strategy</a:t>
            </a:r>
            <a:endParaRPr/>
          </a:p>
        </p:txBody>
      </p:sp>
      <p:sp>
        <p:nvSpPr>
          <p:cNvPr id="343" name="Google Shape;343;p29"/>
          <p:cNvSpPr/>
          <p:nvPr/>
        </p:nvSpPr>
        <p:spPr>
          <a:xfrm>
            <a:off x="581025" y="1228725"/>
            <a:ext cx="4943475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9"/>
          <p:cNvSpPr txBox="1"/>
          <p:nvPr/>
        </p:nvSpPr>
        <p:spPr>
          <a:xfrm>
            <a:off x="581025" y="2031801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 utilize OpenMP to parallelize the execution of independent processes within a single delta batch.</a:t>
            </a:r>
            <a:endParaRPr/>
          </a:p>
        </p:txBody>
      </p:sp>
      <p:sp>
        <p:nvSpPr>
          <p:cNvPr id="345" name="Google Shape;345;p29"/>
          <p:cNvSpPr txBox="1"/>
          <p:nvPr/>
        </p:nvSpPr>
        <p:spPr>
          <a:xfrm>
            <a:off x="962025" y="4045148"/>
            <a:ext cx="4562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Dynamic Scheduling: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Handles variations in process complexity.</a:t>
            </a:r>
            <a:endParaRPr/>
          </a:p>
        </p:txBody>
      </p:sp>
      <p:sp>
        <p:nvSpPr>
          <p:cNvPr id="346" name="Google Shape;346;p29"/>
          <p:cNvSpPr txBox="1"/>
          <p:nvPr/>
        </p:nvSpPr>
        <p:spPr>
          <a:xfrm>
            <a:off x="962025" y="4864298"/>
            <a:ext cx="45624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Thread-Safe Updates: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Double-buffering removes the need for fine-grained locks during evaluation.</a:t>
            </a:r>
            <a:endParaRPr/>
          </a:p>
        </p:txBody>
      </p:sp>
      <p:pic>
        <p:nvPicPr>
          <p:cNvPr descr="image.png" id="347" name="Google Shape;34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0229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921448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3" name="Google Shape;35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0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Lessons &amp;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Decisions</a:t>
            </a:r>
            <a:endParaRPr/>
          </a:p>
        </p:txBody>
      </p:sp>
      <p:sp>
        <p:nvSpPr>
          <p:cNvPr id="355" name="Google Shape;355;p30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0"/>
          <p:cNvSpPr txBox="1"/>
          <p:nvPr/>
        </p:nvSpPr>
        <p:spPr>
          <a:xfrm>
            <a:off x="962025" y="2967037"/>
            <a:ext cx="10648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C++17 Choice: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Leveraged std::optional and std::variant for cleaner AST management.</a:t>
            </a:r>
            <a:endParaRPr/>
          </a:p>
        </p:txBody>
      </p:sp>
      <p:sp>
        <p:nvSpPr>
          <p:cNvPr id="357" name="Google Shape;357;p30"/>
          <p:cNvSpPr txBox="1"/>
          <p:nvPr/>
        </p:nvSpPr>
        <p:spPr>
          <a:xfrm>
            <a:off x="962025" y="3471862"/>
            <a:ext cx="10648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Flex/Bison: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Proven tools for rapid HDL parser development vs. manual recursive descent.</a:t>
            </a:r>
            <a:endParaRPr/>
          </a:p>
        </p:txBody>
      </p:sp>
      <p:sp>
        <p:nvSpPr>
          <p:cNvPr id="358" name="Google Shape;358;p30"/>
          <p:cNvSpPr txBox="1"/>
          <p:nvPr/>
        </p:nvSpPr>
        <p:spPr>
          <a:xfrm>
            <a:off x="962025" y="3976687"/>
            <a:ext cx="10648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Double Buffering: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Proved essential for thread-safety without killing performance with mutexes.</a:t>
            </a:r>
            <a:endParaRPr/>
          </a:p>
        </p:txBody>
      </p:sp>
      <p:sp>
        <p:nvSpPr>
          <p:cNvPr id="359" name="Google Shape;359;p30"/>
          <p:cNvSpPr txBox="1"/>
          <p:nvPr/>
        </p:nvSpPr>
        <p:spPr>
          <a:xfrm>
            <a:off x="962025" y="4481512"/>
            <a:ext cx="10648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Modularity: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Decoupling the simulator from the parser allowed independent testing of the logic engine.</a:t>
            </a:r>
            <a:endParaRPr/>
          </a:p>
        </p:txBody>
      </p:sp>
      <p:pic>
        <p:nvPicPr>
          <p:cNvPr descr="image.png" id="360" name="Google Shape;36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2418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52901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03383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538662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