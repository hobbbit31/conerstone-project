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488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E5E7EC"/>
                </a:solidFill>
                <a:latin typeface="Segoe UI"/>
              </a:rPr>
              <a:t>Parallelized Discrete Event Simulator for VHDL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0A5FA"/>
                </a:solidFill>
                <a:latin typeface="Segoe UI"/>
              </a:rPr>
              <a:t>FINAL REVIEW  · 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8B92A0"/>
                </a:solidFill>
                <a:latin typeface="Segoe UI"/>
              </a:rPr>
              <a:t>Event-driven logic simulation  ·  OpenMP parallelism  ·  Delta-cycle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5E7EC"/>
                </a:solidFill>
                <a:latin typeface="Segoe UI"/>
              </a:rPr>
              <a:t>2025MCS2105   ·   2025MCS2094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01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Phase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FOUNDATION FROM THE MIDSEM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Event-driven engine with delta cycles — guarantees VHDL causality at T=T₀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Flex + Bison VHDL frontend → AST → code-generated netlist (.net) and stimulus (.stim)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Double-buffered Signal class: getValue() reads current, scheduleUpdate() writes next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Priority queue keyed on (time, delta) for deterministic event ordering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VCD writer produces IEEE-1364 compliant waveforms for GTKWave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828800" cy="685800"/>
          </a:xfrm>
          <a:prstGeom prst="roundRect">
            <a:avLst>
              <a:gd name="adj" fmla="val 22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5E7EC"/>
                </a:solidFill>
                <a:latin typeface="Segoe UI"/>
              </a:rPr>
              <a:t>VHDL (.vhd)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48840"/>
            <a:ext cx="1828800" cy="685800"/>
          </a:xfrm>
          <a:prstGeom prst="roundRect">
            <a:avLst>
              <a:gd name="adj" fmla="val 22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5E7EC"/>
                </a:solidFill>
                <a:latin typeface="Segoe UI"/>
              </a:rPr>
              <a:t>Flex Lexer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48840"/>
            <a:ext cx="1828800" cy="685800"/>
          </a:xfrm>
          <a:prstGeom prst="roundRect">
            <a:avLst>
              <a:gd name="adj" fmla="val 22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5E7EC"/>
                </a:solidFill>
                <a:latin typeface="Segoe UI"/>
              </a:rPr>
              <a:t>Bison Parser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148840"/>
            <a:ext cx="1280160" cy="68580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60A5FA"/>
                </a:solidFill>
                <a:latin typeface="Segoe UI"/>
              </a:rPr>
              <a:t>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148840"/>
            <a:ext cx="1828800" cy="685800"/>
          </a:xfrm>
          <a:prstGeom prst="roundRect">
            <a:avLst>
              <a:gd name="adj" fmla="val 22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5E7EC"/>
                </a:solidFill>
                <a:latin typeface="Segoe UI"/>
              </a:rPr>
              <a:t>CodeGen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2148840"/>
            <a:ext cx="2011680" cy="68580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Netlist (.net)
Stimulus (.stim)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491740.0"/>
            <a:ext cx="182880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491740.0"/>
            <a:ext cx="182880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2491740.0"/>
            <a:ext cx="182880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2491740.0"/>
            <a:ext cx="365760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2491740.0"/>
            <a:ext cx="182880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023360"/>
            <a:ext cx="1828800" cy="68580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60A5FA"/>
                </a:solidFill>
                <a:latin typeface="Segoe UI"/>
              </a:rPr>
              <a:t>.net / .stim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023360"/>
            <a:ext cx="2011680" cy="685800"/>
          </a:xfrm>
          <a:prstGeom prst="roundRect">
            <a:avLst>
              <a:gd name="adj" fmla="val 22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5E7EC"/>
                </a:solidFill>
                <a:latin typeface="Segoe UI"/>
              </a:rPr>
              <a:t>Build DAG
+ Layer (Kahn)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023360"/>
            <a:ext cx="2377440" cy="685800"/>
          </a:xfrm>
          <a:prstGeom prst="roundRect">
            <a:avLst>
              <a:gd name="adj" fmla="val 22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5E7EC"/>
                </a:solidFill>
                <a:latin typeface="Segoe UI"/>
              </a:rPr>
              <a:t>Parallel Delta-Cycle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023360"/>
            <a:ext cx="2011680" cy="685800"/>
          </a:xfrm>
          <a:prstGeom prst="roundRect">
            <a:avLst>
              <a:gd name="adj" fmla="val 22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5E7EC"/>
                </a:solidFill>
                <a:latin typeface="Segoe UI"/>
              </a:rPr>
              <a:t>Commit + Schedule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023360"/>
            <a:ext cx="2011680" cy="68580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60A5FA"/>
                </a:solidFill>
                <a:latin typeface="Segoe UI"/>
              </a:rPr>
              <a:t>VCD Output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4366260.0"/>
            <a:ext cx="182880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54880" y="4366260.0"/>
            <a:ext cx="182880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4366260.0"/>
            <a:ext cx="182879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9759" y="4366260.0"/>
            <a:ext cx="182881" cy="0.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.0" y="2834640"/>
            <a:ext cx="0.0" cy="594360"/>
          </a:xfrm>
          <a:prstGeom prst="line">
            <a:avLst/>
          </a:prstGeom>
          <a:ln w="12700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645920.0" y="3429000"/>
            <a:ext cx="9784080.0" cy="0"/>
          </a:xfrm>
          <a:prstGeom prst="line">
            <a:avLst/>
          </a:prstGeom>
          <a:ln w="12700">
            <a:solidFill>
              <a:srgbClr val="93C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45920.0" y="3429000"/>
            <a:ext cx="0.0" cy="594360"/>
          </a:xfrm>
          <a:prstGeom prst="line">
            <a:avLst/>
          </a:prstGeom>
          <a:ln w="12700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B92A0"/>
                </a:solidFill>
                <a:latin typeface="Segoe UI"/>
              </a:rPr>
              <a:t>Frontend (row 1) emits a flat netlist; engine (row 2) topologically layers it and runs the delta-cycle loop in parallel.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03 / 18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What's New in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SCOPE OF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Kahn-layered parallel execution — O(V+E) topological sort over the netlist DAG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Dedicated -seq runtime flag: bypasses all OpenMP pragmas for a clean baseline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Six optimization trials with measured deltas — two kept, four rejected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Parallel commit phase with PARALLEL_THRESHOLD gate and dynamic schedule(16)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Tkinter benchmarking dashboard (stdlib only, zero pip dependencies)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500">
                <a:solidFill>
                  <a:srgbClr val="E5E7EC"/>
                </a:solidFill>
                <a:latin typeface="Segoe UI"/>
              </a:rPr>
              <a:t>Sequential-vs-parallel bit-identity test harness (VCD byte-diff per circuit)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Kahn-Layered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DEPENDENCY ANALYSIS FOR PARALLEL DISPATCH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Each process P lives in a layer L(P) = max(L(q)) + 1  ∀ q ∈ inputs(P)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Topological layering via modified Kahn — complexity O(V + E)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Intra-layer processes share no signal dependencies ⇒ race-free parallelism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Engine issues one #pragma omp parallel for per layer sequentially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Layer width = max parallelism budget at that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3611880"/>
            <a:ext cx="822960" cy="50292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E5E7EC"/>
                </a:solidFill>
                <a:latin typeface="Segoe U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560320"/>
            <a:ext cx="777240" cy="457200"/>
          </a:xfrm>
          <a:prstGeom prst="roundRect">
            <a:avLst>
              <a:gd name="adj" fmla="val 22000"/>
            </a:avLst>
          </a:prstGeom>
          <a:solidFill>
            <a:srgbClr val="162A44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246120"/>
            <a:ext cx="777240" cy="457200"/>
          </a:xfrm>
          <a:prstGeom prst="roundRect">
            <a:avLst>
              <a:gd name="adj" fmla="val 22000"/>
            </a:avLst>
          </a:prstGeom>
          <a:solidFill>
            <a:srgbClr val="162A44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P1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931920"/>
            <a:ext cx="777240" cy="457200"/>
          </a:xfrm>
          <a:prstGeom prst="roundRect">
            <a:avLst>
              <a:gd name="adj" fmla="val 22000"/>
            </a:avLst>
          </a:prstGeom>
          <a:solidFill>
            <a:srgbClr val="162A44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P2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4617720"/>
            <a:ext cx="777240" cy="457200"/>
          </a:xfrm>
          <a:prstGeom prst="roundRect">
            <a:avLst>
              <a:gd name="adj" fmla="val 22000"/>
            </a:avLst>
          </a:prstGeom>
          <a:solidFill>
            <a:srgbClr val="162A44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926080"/>
            <a:ext cx="777240" cy="457200"/>
          </a:xfrm>
          <a:prstGeom prst="roundRect">
            <a:avLst>
              <a:gd name="adj" fmla="val 22000"/>
            </a:avLst>
          </a:prstGeom>
          <a:solidFill>
            <a:srgbClr val="1C2C48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P4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703320"/>
            <a:ext cx="777240" cy="457200"/>
          </a:xfrm>
          <a:prstGeom prst="roundRect">
            <a:avLst>
              <a:gd name="adj" fmla="val 22000"/>
            </a:avLst>
          </a:prstGeom>
          <a:solidFill>
            <a:srgbClr val="1C2C48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P5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480560"/>
            <a:ext cx="777240" cy="457200"/>
          </a:xfrm>
          <a:prstGeom prst="roundRect">
            <a:avLst>
              <a:gd name="adj" fmla="val 22000"/>
            </a:avLst>
          </a:prstGeom>
          <a:solidFill>
            <a:srgbClr val="1C2C48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P6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3611880"/>
            <a:ext cx="822960" cy="50292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E5E7EC"/>
                </a:solidFill>
                <a:latin typeface="Segoe UI"/>
              </a:rPr>
              <a:t>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566927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  <a:latin typeface="Segoe UI"/>
              </a:rPr>
              <a:t>Layer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66927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  <a:latin typeface="Segoe UI"/>
              </a:rPr>
              <a:t>Layer 1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498080" y="2788920.0"/>
            <a:ext cx="457200" cy="107442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98080" y="3474720.0"/>
            <a:ext cx="457200" cy="38862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80" y="3863340.0"/>
            <a:ext cx="457200" cy="29718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80" y="3863340.0"/>
            <a:ext cx="457200" cy="98298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32520" y="2788920.0"/>
            <a:ext cx="411480" cy="36576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32520" y="3154680.0"/>
            <a:ext cx="411480" cy="32004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32520" y="3474720.0"/>
            <a:ext cx="411480" cy="45720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732520" y="3931920.0"/>
            <a:ext cx="411480" cy="22860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32520" y="4160520.0"/>
            <a:ext cx="411480" cy="54864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732520" y="4709160.0"/>
            <a:ext cx="411480" cy="13716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21240" y="3154680.0"/>
            <a:ext cx="411480" cy="70866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921240" y="3863340.0"/>
            <a:ext cx="411480" cy="6858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921240" y="3863340.0"/>
            <a:ext cx="411480" cy="845820.0"/>
          </a:xfrm>
          <a:prstGeom prst="line">
            <a:avLst/>
          </a:prstGeom>
          <a:ln w="9525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05 / 18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Layer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IMPLEMENTATION SKETCH OF KAHN'S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indeg[v] = number of unique input signals of process v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Initial frontier: processes with no predecessors (fed only by inputs)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BFS walk updates layer[v] = max(layer[v], layer[u]+1) for each fanout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Cycles detected by left-over non-zero indeg; pushed to a fallback layer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Final layers[] grouped into a vector&lt;vector&lt;Process*&gt;&gt; for 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120640" cy="429768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0312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// Topological layering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for (auto&amp; v : processes) indeg[v] = v-&gt;inputs.size();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queue&lt;Process*&gt; Q;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for (auto&amp; v : processes)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if (indeg[v] == 0) { layer[v] = 0; Q.push(v); 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while (!Q.empty()) 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auto v = Q.front(); Q.pop();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layers[layer[v]].push_back(v);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for (auto* u : fanout(v)) 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    layer[u] = max(layer[u], layer[v]+1);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    if (--indeg[u] == 0) Q.push(u);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// dispatch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for (auto&amp; L : layers)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#pragma omp parallel for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for (size_t i = 0; i &lt; L.size(); i++)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93C5FD"/>
                </a:solidFill>
                <a:latin typeface="Consolas"/>
              </a:rPr>
              <a:t>        L[i]-&gt;evaluate();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06 / 18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Parallel Simulation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PER TIME-STEP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2560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CD34D"/>
                </a:solidFill>
                <a:latin typeface="Segoe UI"/>
              </a:rPr>
              <a:t>SEQUENTIAL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C"/>
                </a:solidFill>
                <a:latin typeface="Segoe UI"/>
              </a:rPr>
              <a:t>1. Drain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Pop all events with (t=current, δ) from the priority queue.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7560" y="3291840.0"/>
            <a:ext cx="137160" cy="0.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201168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54864" cy="2560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2402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03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C"/>
                </a:solidFill>
                <a:latin typeface="Segoe UI"/>
              </a:rPr>
              <a:t>2.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10896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For each layer L: #pragma omp parallel for over processes in 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291840.0"/>
            <a:ext cx="137160" cy="0.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201168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54864" cy="2560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402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PARALLEL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C"/>
                </a:solidFill>
                <a:latin typeface="Segoe UI"/>
              </a:rPr>
              <a:t>3.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Swap next→current on every Signal; collect changed_flags[].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3960" y="3291840.0"/>
            <a:ext cx="137160" cy="0.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20" y="2011680"/>
            <a:ext cx="2606040" cy="256032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2011680"/>
            <a:ext cx="54864" cy="2560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2402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CD34D"/>
                </a:solidFill>
                <a:latin typeface="Segoe UI"/>
              </a:rPr>
              <a:t>SEQUENTIAL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5603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C"/>
                </a:solidFill>
                <a:latin typeface="Segoe UI"/>
              </a:rPr>
              <a:t>4. Reschedule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10896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For each changed signal, enqueue its sensitive processes at δ+1.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64140.0" y="4572000"/>
            <a:ext cx="0.0" cy="320040"/>
          </a:xfrm>
          <a:prstGeom prst="line">
            <a:avLst/>
          </a:prstGeom>
          <a:ln w="15875">
            <a:solidFill>
              <a:srgbClr val="FCD3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777740.0" y="4892040"/>
            <a:ext cx="5486400.0" cy="0"/>
          </a:xfrm>
          <a:prstGeom prst="line">
            <a:avLst/>
          </a:prstGeom>
          <a:ln w="15875">
            <a:solidFill>
              <a:srgbClr val="FCD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777740.0" y="4572000"/>
            <a:ext cx="0.0" cy="320040"/>
          </a:xfrm>
          <a:prstGeom prst="line">
            <a:avLst/>
          </a:prstGeom>
          <a:ln w="15875">
            <a:solidFill>
              <a:srgbClr val="FCD3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  <a:latin typeface="Segoe UI"/>
              </a:rPr>
              <a:t>↻  Repeat until no signal changes at current time; then advance simulation clock.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07 / 18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Double-Buffered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LOCK-FREE WRITE/READ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Every Signal stores current_value (read) and next_value (pending)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Evaluation: processes read current, call scheduleUpdate(v) → writes next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Reads in one delta never observe partial writes of the same delta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commit() atomically copies next → current and returns true if changed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No mutex on the hot path — only a parallel scan over signals in the commit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Segoe UI"/>
              </a:rPr>
              <a:t>EVALUATE  (delta 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103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  <a:latin typeface="Segoe UI"/>
              </a:rPr>
              <a:t>COMMIT  (end of delta 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56032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E5E7EC"/>
                </a:solidFill>
                <a:latin typeface="Segoe UI"/>
              </a:rPr>
              <a:t>Process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9184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242935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E5E7EC"/>
                </a:solidFill>
                <a:latin typeface="Segoe UI"/>
              </a:rPr>
              <a:t>Process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88920"/>
            <a:ext cx="457200" cy="731520"/>
          </a:xfrm>
          <a:prstGeom prst="roundRect">
            <a:avLst>
              <a:gd name="adj" fmla="val 15000"/>
            </a:avLst>
          </a:prstGeom>
          <a:solidFill>
            <a:srgbClr val="162A44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cur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788920"/>
            <a:ext cx="457200" cy="73152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CD34D"/>
                </a:solidFill>
                <a:latin typeface="Segoe UI"/>
              </a:rPr>
              <a:t>nxt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B92A0"/>
                </a:solidFill>
                <a:latin typeface="Segoe UI"/>
              </a:rPr>
              <a:t>Signal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2788920"/>
            <a:ext cx="274320" cy="182880"/>
          </a:xfrm>
          <a:prstGeom prst="line">
            <a:avLst/>
          </a:prstGeom>
          <a:ln w="12700">
            <a:solidFill>
              <a:srgbClr val="93C5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26680" y="25603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93C5FD"/>
                </a:solidFill>
                <a:latin typeface="Segoe UI"/>
              </a:rPr>
              <a:t>read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72400" y="3291840"/>
            <a:ext cx="777240.0" cy="228600"/>
          </a:xfrm>
          <a:prstGeom prst="line">
            <a:avLst/>
          </a:prstGeom>
          <a:ln w="12700">
            <a:solidFill>
              <a:srgbClr val="FCD3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26680" y="37033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FCD34D"/>
                </a:solidFill>
                <a:latin typeface="Segoe UI"/>
              </a:rPr>
              <a:t>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743200"/>
            <a:ext cx="1920240" cy="91440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8803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  <a:latin typeface="Segoe UI"/>
              </a:rPr>
              <a:t>commit():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1546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5E7EC"/>
                </a:solidFill>
                <a:latin typeface="Segoe UI"/>
              </a:rPr>
              <a:t>next → current  (atomic)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" y="3154680"/>
            <a:ext cx="365760" cy="45720"/>
          </a:xfrm>
          <a:prstGeom prst="line">
            <a:avLst/>
          </a:prstGeom>
          <a:ln w="15875">
            <a:solidFill>
              <a:srgbClr val="FCD3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66960" y="4023360"/>
            <a:ext cx="457200" cy="731520"/>
          </a:xfrm>
          <a:prstGeom prst="roundRect">
            <a:avLst>
              <a:gd name="adj" fmla="val 15000"/>
            </a:avLst>
          </a:prstGeom>
          <a:solidFill>
            <a:srgbClr val="162A44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0A5FA"/>
                </a:solidFill>
                <a:latin typeface="Segoe UI"/>
              </a:rPr>
              <a:t>cur'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023360"/>
            <a:ext cx="457200" cy="731520"/>
          </a:xfrm>
          <a:prstGeom prst="roundRect">
            <a:avLst>
              <a:gd name="adj" fmla="val 15000"/>
            </a:avLst>
          </a:prstGeom>
          <a:solidFill>
            <a:srgbClr val="242935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E5E7EC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B92A0"/>
                </a:solidFill>
                <a:latin typeface="Segoe UI"/>
              </a:rPr>
              <a:t>Signal  (delta k+1)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287000.0" y="3657600"/>
            <a:ext cx="137160.0" cy="365760"/>
          </a:xfrm>
          <a:prstGeom prst="line">
            <a:avLst/>
          </a:prstGeom>
          <a:ln w="12700">
            <a:solidFill>
              <a:srgbClr val="FCD3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20" y="5440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92A0"/>
                </a:solidFill>
                <a:latin typeface="Segoe UI"/>
              </a:rPr>
              <a:t>When |signals| ≥ PARALLEL_THRESHOLD (512), commit scan runs under
#pragma omp parallel for schedule(dynamic, 16).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08 / 18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Sequential Baseline  ( -seq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WHY AN EXPLICIT MODE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OpenMP at OMP_NUM_THREADS=1 still pays for parallel-region setup and barriers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Measured overhead: 3-8% on small circuits; swamps real gains below ~500 gates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-seq takes the single-branch code path in Simulator::run() — no parallel regions hit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Separates 'did we speed up?' from 'did we amortise OpenMP fork/join?'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Reported speedup: S(N) = T_seq / T_N, using the simulator-internal Elapsed timer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T_seq is also the reference for correctness: every parallel VCD must byte-match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Optimization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SIX EXPERIMENTS  ·  TWO KEPT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011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KEPT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RATIONALE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377440"/>
            <a:ext cx="10728655" cy="0"/>
          </a:xfrm>
          <a:prstGeom prst="line">
            <a:avLst/>
          </a:prstGeom>
          <a:ln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51460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PARALLEL_THRESHOLD gate (512)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1460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6EFAC"/>
                </a:solidFill>
                <a:latin typeface="Segoe UI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Skip #pragma omp for small signal sets; ~5% win on tiny designs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10896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10896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Parallel commit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10896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6EFAC"/>
                </a:solidFill>
                <a:latin typeface="Segoe UI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089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schedule(dynamic, 16); commit was 30%+ of runtime at high 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70332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70332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OpenMP task 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0332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2A0"/>
                </a:solidFill>
                <a:latin typeface="Segoe UI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Per-process tasks underperformed static parallel-for on balanced DAGs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29768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29768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Per-layer thread-count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29768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2A0"/>
                </a:solidFill>
                <a:latin typeface="Segoe UI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976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&lt;3% gain vs autoscale; added configuration surface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89204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489204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Lock-free event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89204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2A0"/>
                </a:solidFill>
                <a:latin typeface="Segoe U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9204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Priority-queue invariants hard to preserve under concurrent push/pop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48640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486400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Signal batching by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486400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B92A0"/>
                </a:solidFill>
                <a:latin typeface="Segoe UI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864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Cache locality gain &lt; memcpy cost for batched next-value buffers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608076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10 / 18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Benchmark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REPRODUCIBILITY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Segoe UI"/>
              </a:rPr>
              <a:t>HARDWARE / TOOLCHAIN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700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AMD Ryzen 7 7735HS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30540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3127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Cores / Threads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8C / 16T @ 3.2 GHz 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5112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35844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Compiler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844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g++ 13, -O2 -fopenmp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39684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404164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041647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Linux 6.x native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4425695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5840" y="44988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Circuits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98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15 (.vhd in test_vhdl/)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48828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0" y="201168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212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Segoe UI"/>
              </a:rPr>
              <a:t>MEASUREMENT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OMP_WAIT_POLICY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700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active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9360" y="30540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9360" y="3127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OMP_PROC_BIND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true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9360" y="35112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0" y="35844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Thread sweep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844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seq, 1, 2, 3, 4, 5, 6, 7, 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09360" y="39684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09360" y="4041647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Repeats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041647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3  ·  fastest kept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09360" y="4425695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09360" y="44988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2A0"/>
                </a:solidFill>
                <a:latin typeface="Segoe UI"/>
              </a:rPr>
              <a:t>Timer source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498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E5E7EC"/>
                </a:solidFill>
                <a:latin typeface="Segoe UI"/>
              </a:rPr>
              <a:t>Simulator::run() Elapsed (ms)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9360" y="4882896"/>
            <a:ext cx="4572000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11 / 18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Speedup — pyramid_100k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DEEP PYRAMID NETLIST  ·  BASELINE T_SEQ = 1371 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1520" y="2057400"/>
            <a:ext cx="0" cy="3383280"/>
          </a:xfrm>
          <a:prstGeom prst="line">
            <a:avLst/>
          </a:prstGeom>
          <a:ln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" y="5440680"/>
            <a:ext cx="10698480" cy="0"/>
          </a:xfrm>
          <a:prstGeom prst="line">
            <a:avLst/>
          </a:prstGeom>
          <a:ln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4790050"/>
            <a:ext cx="10698480" cy="0"/>
          </a:xfrm>
          <a:prstGeom prst="line">
            <a:avLst/>
          </a:prstGeom>
          <a:ln w="6350">
            <a:solidFill>
              <a:srgbClr val="1E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" y="469861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0.5×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139419"/>
            <a:ext cx="10698480" cy="0"/>
          </a:xfrm>
          <a:prstGeom prst="line">
            <a:avLst/>
          </a:prstGeom>
          <a:ln w="6350">
            <a:solidFill>
              <a:srgbClr val="1E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" y="404797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1.0×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488788"/>
            <a:ext cx="10698480" cy="0"/>
          </a:xfrm>
          <a:prstGeom prst="line">
            <a:avLst/>
          </a:prstGeom>
          <a:ln w="6350">
            <a:solidFill>
              <a:srgbClr val="1E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8600" y="33973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1.5×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2838157"/>
            <a:ext cx="10698480" cy="0"/>
          </a:xfrm>
          <a:prstGeom prst="line">
            <a:avLst/>
          </a:prstGeom>
          <a:ln w="6350">
            <a:solidFill>
              <a:srgbClr val="1E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8600" y="2746717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2.0×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2187527"/>
            <a:ext cx="10698480" cy="0"/>
          </a:xfrm>
          <a:prstGeom prst="line">
            <a:avLst/>
          </a:prstGeom>
          <a:ln w="6350">
            <a:solidFill>
              <a:srgbClr val="1E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8600" y="2096087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2.5×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165444"/>
            <a:ext cx="1120140" cy="127523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72836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0.98×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1T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08860" y="3579877"/>
            <a:ext cx="1120140" cy="1860803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08860" y="3287269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1.43×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886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2T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3163473"/>
            <a:ext cx="1120140" cy="2277207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870865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1.75×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3T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4900" y="2877195"/>
            <a:ext cx="1120140" cy="2563485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4900" y="2584587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1.97×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490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4T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747069"/>
            <a:ext cx="1120140" cy="2693611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54461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2.07×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5T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20940" y="2551880"/>
            <a:ext cx="1120140" cy="28888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0940" y="2259272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2.22×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094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6T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2447779"/>
            <a:ext cx="1120140" cy="2992901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2155171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2.30×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7T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26980" y="2343678"/>
            <a:ext cx="1120140" cy="309700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26980" y="205107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5E7EC"/>
                </a:solidFill>
                <a:latin typeface="Segoe UI"/>
              </a:rPr>
              <a:t>2.38×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6980" y="5486400"/>
            <a:ext cx="1120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B92A0"/>
                </a:solidFill>
                <a:latin typeface="Segoe UI"/>
              </a:rPr>
              <a:t>8T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B92A0"/>
                </a:solidFill>
                <a:latin typeface="Segoe UI"/>
              </a:rPr>
              <a:t>Scaling is sub-linear: Amdahl bound ≈ critical-path depth / total processes.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12 / 18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Efficiency Across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SPEEDUP / THREADS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B92A0"/>
                </a:solidFill>
                <a:latin typeface="Segoe UI"/>
              </a:rPr>
              <a:t>SEQ (MS)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B92A0"/>
                </a:solidFill>
                <a:latin typeface="Segoe UI"/>
              </a:rPr>
              <a:t>2T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0116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B92A0"/>
                </a:solidFill>
                <a:latin typeface="Segoe UI"/>
              </a:rPr>
              <a:t>4T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B92A0"/>
                </a:solidFill>
                <a:latin typeface="Segoe UI"/>
              </a:rPr>
              <a:t>6T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20116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B92A0"/>
                </a:solidFill>
                <a:latin typeface="Segoe UI"/>
              </a:rPr>
              <a:t>8T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377440"/>
            <a:ext cx="10728655" cy="0"/>
          </a:xfrm>
          <a:prstGeom prst="line">
            <a:avLst/>
          </a:prstGeom>
          <a:ln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25146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pyramid_100k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1371.0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5146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146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25146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0.30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01752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0175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pyramid_and_tree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175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461.9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0175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175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30175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0.30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352044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35204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large_wide_and_tree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5204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6.46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5204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5204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35204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402336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40233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large_alu_8bit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0233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2.80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0233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0233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0233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4023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1520" y="452628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4526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large_wide_mixed_gates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5262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4.88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5262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45262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5262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262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" y="502920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31520" y="50292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C"/>
                </a:solidFill>
                <a:latin typeface="Segoe UI"/>
              </a:rPr>
              <a:t>full_adder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50292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50292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50292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0292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50292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B92A0"/>
                </a:solidFill>
                <a:latin typeface="Segoe UI"/>
              </a:rPr>
              <a:t>0.08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" y="5532120"/>
            <a:ext cx="10728655" cy="0"/>
          </a:xfrm>
          <a:prstGeom prst="line">
            <a:avLst/>
          </a:prstGeom>
          <a:ln>
            <a:solidFill>
              <a:srgbClr val="202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B92A0"/>
                </a:solidFill>
                <a:latin typeface="Segoe UI"/>
              </a:rPr>
              <a:t>Efficiency = Speedup / N. Large pyramids sustain &gt;0.3 at 8T; small circuits collapse because parallel-region cost dominates.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13 / 18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Benchmarking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TKINTER GUI — ZERO PIP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300">
                <a:solidFill>
                  <a:srgbClr val="E5E7EC"/>
                </a:solidFill>
                <a:latin typeface="Segoe UI"/>
              </a:rPr>
              <a:t>Pure stdlib: tkinter, subprocess, threading, queue — runs on any Python 3.9+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300">
                <a:solidFill>
                  <a:srgbClr val="E5E7EC"/>
                </a:solidFill>
                <a:latin typeface="Segoe UI"/>
              </a:rPr>
              <a:t>File upload or bundled-example picker; run single config or thread sweep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300">
                <a:solidFill>
                  <a:srgbClr val="E5E7EC"/>
                </a:solidFill>
                <a:latin typeface="Segoe UI"/>
              </a:rPr>
              <a:t>Sweep auto-runs -seq baseline first, then threads 1..N (no -seq) for honest data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300">
                <a:solidFill>
                  <a:srgbClr val="E5E7EC"/>
                </a:solidFill>
                <a:latin typeface="Segoe UI"/>
              </a:rPr>
              <a:t>Live charts: wall-time, speedup, efficiency — updated from worker-thread queue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300">
                <a:solidFill>
                  <a:srgbClr val="E5E7EC"/>
                </a:solidFill>
                <a:latin typeface="Segoe UI"/>
              </a:rPr>
              <a:t>One-click GTKWave launch on the fastest VCD of a sweep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300">
                <a:solidFill>
                  <a:srgbClr val="E5E7EC"/>
                </a:solidFill>
                <a:latin typeface="Segoe UI"/>
              </a:rPr>
              <a:t>Auto-detects simulator binary (Linux or MSYS/MinGW) relative to the 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4846320" cy="3931920"/>
          </a:xfrm>
          <a:prstGeom prst="roundRect">
            <a:avLst>
              <a:gd name="adj" fmla="val 6000"/>
            </a:avLst>
          </a:prstGeom>
          <a:solidFill>
            <a:srgbClr val="242935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74903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B92A0"/>
                </a:solidFill>
                <a:latin typeface="Segoe UI"/>
              </a:rPr>
              <a:t>[  dashboard.png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114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B92A0"/>
                </a:solidFill>
                <a:latin typeface="Segoe UI"/>
              </a:rPr>
              <a:t>(drop a screenshot onto this box)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14 / 18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Testing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CORRECTNESS-FIRST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Bit-identity: VCD(parallel, N threads)  ≡  VCD(-seq) — byte-for-byte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36 assertion tests covering 12 gate primitives + sequential elements (DFF, Latch)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VHDL frontend: lexer / parser / codegen round-trip across 15 reference circuits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Regression harness: make test runs on every commit, fails on any VCD diff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Tests automatically sweep threads ∈ {1, 2, 4, 8} to catch race regressions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KNOWN GAPS AND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ClockProcess: delta-0 ordering not fully deterministic under high thread counts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Cyclic netlists collapse into a fallback single-layer (lose parallelism for that region)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Small designs (&lt;500 gates): parallel-region cost &gt; work; -seq faster in practice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No incremental recompile of VHDL — full flex/bison rebuild on every change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400">
                <a:solidFill>
                  <a:srgbClr val="E5E7EC"/>
                </a:solidFill>
                <a:latin typeface="Segoe UI"/>
              </a:rPr>
              <a:t>VCD writer is single-threaded (Amdahl floor on I/O-heavy runs)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TEAM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Segoe UI"/>
              </a:rPr>
              <a:t>2025MCS2105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Core simulator engine (C++17) and OpenMP integration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Double-buffered Signal class; commit phase parallelisation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Benchmark harness, optimization trials and analysis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-seq baseline mode and speedup instrumentation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Segoe UI"/>
              </a:rPr>
              <a:t>2025MCS2094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3464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VHDL frontend — Flex lexer, Bison grammar, AST walker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Netlist code generator (.net / .stim emission)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Kahn-layering and DAG construction in the engine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Tkinter dashboard and regression-test 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17 / 18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C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92A0"/>
                </a:solidFill>
                <a:latin typeface="Segoe UI"/>
              </a:rPr>
              <a:t>WRAP-UP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0A5FA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C"/>
                </a:solidFill>
                <a:latin typeface="Segoe UI"/>
              </a:rPr>
              <a:t>Kahn layering + double-buffered signals give deterministic parallelism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0A5FA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8036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C"/>
                </a:solidFill>
                <a:latin typeface="Segoe UI"/>
              </a:rPr>
              <a:t>Explicit -seq baseline exposes real scaling, not OpenMP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0A5FA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C"/>
                </a:solidFill>
                <a:latin typeface="Segoe UI"/>
              </a:rPr>
              <a:t>Benchmark-driven search rejected four of six candidate optimizations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011680"/>
            <a:ext cx="4846320" cy="3474720"/>
          </a:xfrm>
          <a:prstGeom prst="roundRect">
            <a:avLst>
              <a:gd name="adj" fmla="val 6000"/>
            </a:avLst>
          </a:prstGeom>
          <a:solidFill>
            <a:srgbClr val="1A1F2A"/>
          </a:solidFill>
          <a:ln w="9525">
            <a:solidFill>
              <a:srgbClr val="2D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Segoe UI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6032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Feedback-cycle breaking (SCCs → heuristic serialisation)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Adaptive OMP thread count per-layer (layer width heuristic)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GPU offload for wide combinational layers (CUDA kernels)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60A5FA"/>
                </a:solidFill>
                <a:latin typeface="Segoe UI"/>
              </a:rPr>
              <a:t>▸  </a:t>
            </a:r>
            <a:r>
              <a:rPr sz="1200">
                <a:solidFill>
                  <a:srgbClr val="E5E7EC"/>
                </a:solidFill>
                <a:latin typeface="Segoe UI"/>
              </a:rPr>
              <a:t>Richer VHDL grammar: generate, generic maps, multi-wait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60A5FA"/>
                </a:solidFill>
                <a:latin typeface="Segoe UI"/>
              </a:rPr>
              <a:t>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B92A0"/>
                </a:solidFill>
                <a:latin typeface="Segoe UI"/>
              </a:rPr>
              <a:t>IIT Delhi  ·  M.Tech Cornerstone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92A0"/>
                </a:solidFill>
                <a:latin typeface="Segoe UI"/>
              </a:rPr>
              <a:t>18 / 18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6419088"/>
            <a:ext cx="10728655" cy="0"/>
          </a:xfrm>
          <a:prstGeom prst="line">
            <a:avLst/>
          </a:prstGeom>
          <a:ln w="6350">
            <a:solidFill>
              <a:srgbClr val="2D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